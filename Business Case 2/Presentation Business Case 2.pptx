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1" r:id="rId3"/>
    <p:sldId id="269" r:id="rId4"/>
    <p:sldId id="270" r:id="rId5"/>
    <p:sldId id="264" r:id="rId6"/>
    <p:sldId id="259" r:id="rId7"/>
    <p:sldId id="260" r:id="rId8"/>
    <p:sldId id="261" r:id="rId9"/>
    <p:sldId id="262" r:id="rId10"/>
    <p:sldId id="263" r:id="rId11"/>
    <p:sldId id="273" r:id="rId12"/>
    <p:sldId id="265" r:id="rId13"/>
    <p:sldId id="266" r:id="rId14"/>
  </p:sldIdLst>
  <p:sldSz cx="12192000" cy="6858000"/>
  <p:notesSz cx="6858000" cy="9144000"/>
  <p:defaultTextStyle>
    <a:defPPr>
      <a:defRPr lang="en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81"/>
    <p:restoredTop sz="94737"/>
  </p:normalViewPr>
  <p:slideViewPr>
    <p:cSldViewPr snapToGrid="0">
      <p:cViewPr varScale="1">
        <p:scale>
          <a:sx n="111" d="100"/>
          <a:sy n="111" d="100"/>
        </p:scale>
        <p:origin x="232" y="3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6830A-53BF-A1F4-3D88-04802AD9F9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24D0D1-9BAD-2601-1804-50C68733F1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C2C612-FEA5-CC0C-F98B-B4B1AAEEE4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8E5C8D-AF63-A99A-1417-1584C93F4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3C53D9-2DDB-E42B-C300-5D8F49E87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49500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A28F7-3123-F799-B879-E138BAC07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53DAC-74D8-B7F8-E607-82C3E03277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0CEF4F-AD77-D76F-1D6B-C02043867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E8009C-610F-7E52-085F-547431F90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509ABA-A270-9B64-6139-7AEABBFA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3941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B9CF0-AF9B-1705-01DD-4FDF773FC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0BFC7-DD0B-487F-B004-5E731CAF7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F14D03-7C07-C14D-DB20-BC084032A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F44B3C-E1B7-33C7-187E-04C3A2071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6BA1D0-A820-ECDD-CAE9-06985CA8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478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38946-F0FB-4A4F-4C72-3A2700527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BEC0C7-1021-A0D5-DC83-AF6C44E6B5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77E69B-D7AA-92F4-1A5D-C95440FD3E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211868-85A0-57D1-1E7C-D407C2A58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6E9C26-759F-00FF-5117-F46803A9F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445CC3-392B-9107-4FCE-01360755E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008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5FCAB-4776-1CED-168D-EF9AE048B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650AA1-9FDF-20A4-9E61-0C29C2CD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6308E9-5652-0AEF-65E2-6294553F1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1E811D-76F1-0D26-FB18-7CEEC2D39C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3414DE-304C-C9EA-7F17-44B512D815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6B3E45-C62A-04A2-73B9-C97E0DBEB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464048-AC57-3C91-6F64-0A6A57F54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35674C-1696-E520-ED4A-DF4CE9432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209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700C7-40C3-03DA-7508-1B2F3DD8D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153D1F-EAAD-E0E5-1E0B-8CFA5D0E8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8DC20A-DA75-92B2-1D8B-556ACE5D2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B9043F-2E16-E524-D7C6-11094D0A0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9375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8BC53C-B1D6-3D97-6DA4-00DB670D96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C7338F-3DF4-351F-6622-7D2CD920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37DDD-AF65-18D1-07F4-5BF582690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998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E0B29-E92E-5F4E-D517-757444495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988120-9727-B099-9B5E-483E0A913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050D5F7-C58E-E645-0AE1-250FD09CC7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ACDD3C-FC5A-A3AE-3AA2-F28750CDC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F21EC0-8435-630C-C709-E2EF6542BC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B95BF9-B70B-6E21-0DCA-6E24753769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05061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910A2-326E-53BE-5A45-E45CDDDB5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A578971-DA90-D1B6-ECCA-F6181A80C8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84DE1F-CEAD-57C9-0D6E-46ED1FE8A5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69DB8C-E2F2-8A67-AB45-B2925A743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7DBBE-BEC4-9578-FE30-BE32FB642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3D57C8-99BE-EDB6-277E-637C9414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54702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02047-B1FB-78EF-413E-A4674C814D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C10B90-DEBD-463E-10D5-C6615215F6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E7663A-9A3B-5124-EE30-690CD885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7AF0C3-46B5-7508-E77B-1B48050C8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FD4405-64A6-2581-8FC2-42380268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44837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702E7B-71C8-5FC7-19D2-1CF4E7646B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902302-FEB4-FBC4-ACA1-3D25F2BFA0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747D3-5465-6D76-4E3B-0EE60320C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842EE0-EE7A-7645-4BDA-E8379FA0E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5A1FA8-20EE-DC22-4A6A-AE36D2887C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762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019368-356C-7C78-2AED-C0D326579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fr-F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71770A-AFD2-8C18-F696-770CC6DD90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F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0891D-9915-9FBC-2B6A-51C518B550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947F04-84CB-0649-B1F3-250F835B4250}" type="datetimeFigureOut">
              <a:rPr lang="fr-FR" smtClean="0"/>
              <a:t>20/04/2026</a:t>
            </a:fld>
            <a:endParaRPr lang="fr-F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C903F3-597F-409A-90E4-EC7B593E84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D6EE49-24AA-4194-9C28-CFBD47797C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8783FE3-41A6-594A-97A8-597E0D66D159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84547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387581-7B7E-4A8E-37FD-C5DB9CA134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93338"/>
            <a:ext cx="9144000" cy="3274592"/>
          </a:xfrm>
        </p:spPr>
        <p:txBody>
          <a:bodyPr anchor="ctr">
            <a:normAutofit/>
          </a:bodyPr>
          <a:lstStyle/>
          <a:p>
            <a:r>
              <a:rPr lang="en-US" sz="7200" dirty="0"/>
              <a:t>Recommending Products to clients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53E895-6D52-9822-A7E3-A36A80AED6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14052"/>
            <a:ext cx="9144000" cy="651910"/>
          </a:xfrm>
        </p:spPr>
        <p:txBody>
          <a:bodyPr anchor="ctr">
            <a:normAutofit/>
          </a:bodyPr>
          <a:lstStyle/>
          <a:p>
            <a:r>
              <a:rPr lang="en-US" dirty="0"/>
              <a:t>FINTECH 2025-2026 Business Case 2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874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82DB5A-D266-6B68-B072-21C06364C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D594111-DAEC-2ECF-4096-DF87BDEC1C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3337B97-2BA5-1798-8210-0F8BA385CC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0B81759-398F-A2F5-F219-6A2EAD65DB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245F25-DD2F-61E2-3DFD-F700AB43B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93338"/>
            <a:ext cx="9144000" cy="3274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Data Preprocessing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0A53173-4DB8-4C5C-FF05-C4F7EB062E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5514052"/>
            <a:ext cx="9144000" cy="65191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What can we realistically expect to get out of our dataset?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495AC7A-B160-264F-09F0-3E5CEA3FE7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10080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B85D88-BB3C-A7F3-3B94-A52D364B0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D15C532-6365-8D21-B318-5ABFE094D5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Data Exploration</a:t>
            </a:r>
            <a:endParaRPr lang="en-US" sz="4000" kern="1200">
              <a:latin typeface="+mj-lt"/>
              <a:ea typeface="+mj-ea"/>
              <a:cs typeface="+mj-cs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8" name="Rectangle 67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C565A6-1269-CA5F-B12B-3462813D8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Our process</a:t>
            </a:r>
          </a:p>
          <a:p>
            <a:r>
              <a:rPr lang="en-US" sz="2000" dirty="0"/>
              <a:t>Data Cleaning</a:t>
            </a:r>
          </a:p>
          <a:p>
            <a:pPr lvl="1"/>
            <a:r>
              <a:rPr lang="en-US" sz="2000" dirty="0"/>
              <a:t>Drop ID as it is uninformative</a:t>
            </a:r>
          </a:p>
          <a:p>
            <a:pPr lvl="1"/>
            <a:r>
              <a:rPr lang="en-US" sz="2000" dirty="0"/>
              <a:t>Shuffle rows</a:t>
            </a:r>
          </a:p>
          <a:p>
            <a:pPr lvl="1"/>
            <a:r>
              <a:rPr lang="en-US" sz="2000" dirty="0"/>
              <a:t>Separate features from targets</a:t>
            </a:r>
          </a:p>
          <a:p>
            <a:pPr lvl="1"/>
            <a:r>
              <a:rPr lang="en-US" sz="2000" dirty="0"/>
              <a:t>Check target classes balance</a:t>
            </a:r>
          </a:p>
          <a:p>
            <a:r>
              <a:rPr lang="en-US" sz="2000" dirty="0"/>
              <a:t>Skew reduction</a:t>
            </a:r>
          </a:p>
          <a:p>
            <a:pPr lvl="1"/>
            <a:r>
              <a:rPr lang="en-US" sz="2000" dirty="0"/>
              <a:t>Wealth and Income are highly skewed</a:t>
            </a:r>
          </a:p>
          <a:p>
            <a:pPr lvl="1"/>
            <a:r>
              <a:rPr lang="en-US" sz="2000" dirty="0"/>
              <a:t>We apply log1p for skew reduction 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graph of a graph showing the number of variables&#10;&#10;AI-generated content may be incorrect.">
            <a:extLst>
              <a:ext uri="{FF2B5EF4-FFF2-40B4-BE49-F238E27FC236}">
                <a16:creationId xmlns:a16="http://schemas.microsoft.com/office/drawing/2014/main" id="{9C2CF570-3BA8-1710-DED6-9315B37D6F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3423" y="1071719"/>
            <a:ext cx="4397433" cy="1539101"/>
          </a:xfrm>
          <a:prstGeom prst="rect">
            <a:avLst/>
          </a:prstGeom>
        </p:spPr>
      </p:pic>
      <p:sp>
        <p:nvSpPr>
          <p:cNvPr id="74" name="Rectangle 73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of wealth and income&#10;&#10;AI-generated content may be incorrect.">
            <a:extLst>
              <a:ext uri="{FF2B5EF4-FFF2-40B4-BE49-F238E27FC236}">
                <a16:creationId xmlns:a16="http://schemas.microsoft.com/office/drawing/2014/main" id="{C79ECE4F-6DC0-607D-D9EF-198D2978D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3423" y="3742007"/>
            <a:ext cx="4395569" cy="2450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5309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C6C197-F93C-8252-274B-ADD2D08833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971075-3F19-7BB9-4EBC-E5918A320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500" noProof="0" dirty="0"/>
              <a:t>Feature Engineering and </a:t>
            </a:r>
            <a:r>
              <a:rPr lang="en-FR" sz="2500"/>
              <a:t>Exploratory Data Analysis (aka the result)</a:t>
            </a:r>
            <a:endParaRPr lang="en-US" sz="2500" kern="1200" dirty="0">
              <a:latin typeface="+mj-lt"/>
              <a:ea typeface="+mj-ea"/>
              <a:cs typeface="+mj-cs"/>
            </a:endParaRP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Rectangle 56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4EBEBD-C10A-780F-200D-416D8375A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197" y="2330505"/>
            <a:ext cx="5038636" cy="397958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noProof="0" dirty="0"/>
              <a:t>The Mathematical Approach</a:t>
            </a:r>
          </a:p>
          <a:p>
            <a:pPr lvl="1"/>
            <a:r>
              <a:rPr lang="en-US" sz="1600" dirty="0"/>
              <a:t>We aim to have low correlation with all variables</a:t>
            </a:r>
          </a:p>
          <a:p>
            <a:pPr lvl="1"/>
            <a:r>
              <a:rPr lang="en-US" sz="1600" dirty="0"/>
              <a:t>And high predictive power</a:t>
            </a:r>
          </a:p>
          <a:p>
            <a:pPr lvl="1"/>
            <a:r>
              <a:rPr lang="en-US" sz="1600" dirty="0"/>
              <a:t>We tried all the combination of 2-3 features with all the operations (+,-,x,/)</a:t>
            </a:r>
          </a:p>
          <a:p>
            <a:r>
              <a:rPr lang="en-US" sz="2000" noProof="0" dirty="0"/>
              <a:t>The Business Approach</a:t>
            </a:r>
          </a:p>
          <a:p>
            <a:pPr lvl="1"/>
            <a:r>
              <a:rPr lang="en-US" sz="1600" noProof="0" dirty="0"/>
              <a:t>Based on common sense we have:</a:t>
            </a:r>
          </a:p>
          <a:p>
            <a:pPr lvl="1"/>
            <a:r>
              <a:rPr lang="en-US" sz="1600" dirty="0" err="1"/>
              <a:t>IncomePerFamilyMember_log</a:t>
            </a:r>
            <a:r>
              <a:rPr lang="en-US" sz="1600" dirty="0"/>
              <a:t> = log1p(Income / </a:t>
            </a:r>
            <a:r>
              <a:rPr lang="en-US" sz="1600" dirty="0" err="1"/>
              <a:t>FamilyMembers</a:t>
            </a:r>
            <a:r>
              <a:rPr lang="en-US" sz="1600" dirty="0"/>
              <a:t>)</a:t>
            </a:r>
          </a:p>
          <a:p>
            <a:pPr lvl="1"/>
            <a:r>
              <a:rPr lang="en-US" sz="1600" dirty="0" err="1"/>
              <a:t>Income_Wealth_Ratio_log</a:t>
            </a:r>
            <a:r>
              <a:rPr lang="en-US" sz="1600" dirty="0"/>
              <a:t> = log1p(Income / Wealth)</a:t>
            </a:r>
          </a:p>
          <a:p>
            <a:pPr lvl="1"/>
            <a:r>
              <a:rPr lang="en-US" sz="1600" dirty="0" err="1"/>
              <a:t>SophisticationScore</a:t>
            </a:r>
            <a:r>
              <a:rPr lang="en-US" sz="1600" dirty="0"/>
              <a:t> = </a:t>
            </a:r>
            <a:r>
              <a:rPr lang="en-US" sz="1600" dirty="0" err="1"/>
              <a:t>FinancialEducation</a:t>
            </a:r>
            <a:r>
              <a:rPr lang="en-US" sz="1600" dirty="0"/>
              <a:t> × </a:t>
            </a:r>
            <a:r>
              <a:rPr lang="en-US" sz="1600" dirty="0" err="1"/>
              <a:t>RiskPropensity</a:t>
            </a:r>
            <a:endParaRPr lang="en-US" sz="1600" dirty="0"/>
          </a:p>
          <a:p>
            <a:pPr lvl="1"/>
            <a:endParaRPr lang="en-US" sz="1200" noProof="0" dirty="0"/>
          </a:p>
          <a:p>
            <a:pPr lvl="1"/>
            <a:endParaRPr lang="en-US" sz="1600" noProof="0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A3AE11-9331-2F82-B9DC-13AB08A039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9499" y="825655"/>
            <a:ext cx="5569312" cy="5206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8598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C03836-09A9-FD31-D291-958526F18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Autofit/>
          </a:bodyPr>
          <a:lstStyle/>
          <a:p>
            <a:r>
              <a:rPr lang="en-FR" sz="3600"/>
              <a:t>Exploratory Data Analysis: Feature distributions and pairwise correlations after engineering.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E78D27F-9F16-5D9D-36DD-1F9F8EBBEA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638" y="2389218"/>
            <a:ext cx="3913017" cy="366106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1DAE451-7639-6167-B9E1-F6E4C11A3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8275" y="2389218"/>
            <a:ext cx="4118695" cy="366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0262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47942995-B07F-4636-9A06-C6A104B260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B5ED55-C259-A39A-65DA-504C07F6BE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2960716"/>
            <a:ext cx="4036334" cy="238760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Supervised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98C30-B2A6-77B3-88E6-E0CF201164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3809" y="953037"/>
            <a:ext cx="4036333" cy="1709849"/>
          </a:xfrm>
        </p:spPr>
        <p:txBody>
          <a:bodyPr vert="horz" lIns="91440" tIns="45720" rIns="91440" bIns="45720" rtlCol="0" anchor="b">
            <a:normAutofit/>
          </a:bodyPr>
          <a:lstStyle/>
          <a:p>
            <a:pPr marL="0" indent="0">
              <a:buNone/>
            </a:pPr>
            <a:r>
              <a:rPr lang="en-US" sz="20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We are trying to understand how the features relate to the targets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2984992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4" name="Rectangle 43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391886"/>
            <a:ext cx="6009366" cy="60170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E804B13-AFC6-1E39-808D-BB54D0C38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9193" y="756322"/>
            <a:ext cx="5562600" cy="513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297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39BBBE-7979-94EB-815E-0B576E65B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" name="Rectangle 44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30DEEF-833A-9A6D-42E1-5A9471E70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000"/>
              <a:t>FAMD and GMM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D6469-4850-877F-B8A5-9C8ABFD651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3150661" cy="363249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dirty="0"/>
              <a:t>Our findings from both methods aren’t significant.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This means that the variables are highly uncorrelated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0934E8-45BE-7502-D6D1-4FB46A9092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1846" y="922645"/>
            <a:ext cx="6773941" cy="25063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F97FEE-CC05-DCE8-CEA4-C16CB0DEF9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1846" y="3583434"/>
            <a:ext cx="6773941" cy="1896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16961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92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2"/>
            <a:ext cx="10999072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E22F87-3B08-0DA9-11C5-057279CB5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293338"/>
            <a:ext cx="9144000" cy="327459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The Reccomendation Engine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4F7A84-6198-62D2-CEAD-89B4ABFC4D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5514052"/>
            <a:ext cx="9144000" cy="65191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Classify users with respect to the accumulation or investment plans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54708"/>
            <a:ext cx="11000232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97348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6CDA21F-E7AF-4C75-8395-33F58D5B0E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E1C45F0-260A-458C-96ED-C1F6D215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" y="1216597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6604B49-AD5C-4590-B051-06C8222ECD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43ECCAF-29C5-4537-947C-7EA1292463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D49787B-8DE6-4467-AD0A-8DECC6E0C2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D5B0017B-2ECA-49AF-B397-DC140825DF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79" y="613954"/>
            <a:ext cx="10907487" cy="189411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7D87CC8-7239-C071-5147-D90F7598B7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3631" y="809898"/>
            <a:ext cx="9942716" cy="1554480"/>
          </a:xfrm>
        </p:spPr>
        <p:txBody>
          <a:bodyPr anchor="ctr">
            <a:normAutofit/>
          </a:bodyPr>
          <a:lstStyle/>
          <a:p>
            <a:r>
              <a:rPr lang="en-US" sz="4800" dirty="0"/>
              <a:t>Data setup</a:t>
            </a:r>
            <a:endParaRPr lang="en-FR" sz="4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FF765E-28B0-CEBD-DB65-73013ECC01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5028" y="3017522"/>
            <a:ext cx="9941319" cy="3124658"/>
          </a:xfrm>
        </p:spPr>
        <p:txBody>
          <a:bodyPr anchor="ctr">
            <a:normAutofit/>
          </a:bodyPr>
          <a:lstStyle/>
          <a:p>
            <a:r>
              <a:rPr lang="en-US" sz="2400" dirty="0"/>
              <a:t>A</a:t>
            </a:r>
            <a:r>
              <a:rPr lang="en-FR" sz="2400"/>
              <a:t>ppl</a:t>
            </a:r>
            <a:r>
              <a:rPr lang="en-US" sz="2400" dirty="0"/>
              <a:t>y</a:t>
            </a:r>
            <a:r>
              <a:rPr lang="en-FR" sz="2400"/>
              <a:t> a stratified 80/20 split of the data to prevent any leakage</a:t>
            </a:r>
          </a:p>
          <a:p>
            <a:r>
              <a:rPr lang="en-FR" sz="2400"/>
              <a:t>Scale the data (so that we have mean 0 and standard deviation 1)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CF1BAF6-AD41-4082-B212-8A1F9A2E8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8200" y="6485313"/>
            <a:ext cx="10515600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1812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058A14AF-9FB5-4CC7-BA35-E8E85D3E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08DCEC-E89E-55E9-2F56-5BF7097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3662" y="386930"/>
            <a:ext cx="10066122" cy="1298448"/>
          </a:xfrm>
        </p:spPr>
        <p:txBody>
          <a:bodyPr anchor="b">
            <a:normAutofit/>
          </a:bodyPr>
          <a:lstStyle/>
          <a:p>
            <a:r>
              <a:rPr lang="en-FR" sz="4800" dirty="0"/>
              <a:t>Model Evaluation Strategy (Metrics)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9A4357-BD1D-4622-A4FE-766E6AB8DE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 flipV="1">
            <a:off x="-2" y="1998845"/>
            <a:ext cx="11454595" cy="781699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26799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B0091A-D449-C13E-37B0-7FA624E1C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1" y="2599509"/>
            <a:ext cx="4530898" cy="3639450"/>
          </a:xfrm>
        </p:spPr>
        <p:txBody>
          <a:bodyPr anchor="ctr">
            <a:normAutofit/>
          </a:bodyPr>
          <a:lstStyle/>
          <a:p>
            <a:r>
              <a:rPr lang="en-FR" sz="2000" dirty="0"/>
              <a:t>Safety constraint</a:t>
            </a:r>
          </a:p>
          <a:p>
            <a:r>
              <a:rPr lang="en-FR" sz="2000" dirty="0"/>
              <a:t>Optimization Objective</a:t>
            </a:r>
          </a:p>
          <a:p>
            <a:r>
              <a:rPr lang="en-FR" sz="2000" dirty="0"/>
              <a:t>Balanced Business Score</a:t>
            </a:r>
          </a:p>
          <a:p>
            <a:r>
              <a:rPr lang="en-FR" sz="2000" dirty="0"/>
              <a:t>Safety constraint precision</a:t>
            </a:r>
          </a:p>
          <a:p>
            <a:r>
              <a:rPr lang="en-FR" sz="2000" dirty="0"/>
              <a:t>F1 Score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BD64E4-9B54-1444-1944-DE0E98B95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1532" y="3549522"/>
            <a:ext cx="5150277" cy="1583709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E6995CE5-F890-4ABA-82A2-26507CE8D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28040" y="2313027"/>
            <a:ext cx="781700" cy="15238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9136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4C4959-0B04-42E2-19E7-D4805E737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F82CCC8-7F92-4017-0B86-006CB65DC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430F7D-DF25-E8BE-6345-CCF41D16C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FR" sz="5400"/>
              <a:t>Modelling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C886AE5-562E-3B82-5470-0A8067DDA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C112755-7ACF-1B19-75C7-704800F432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89F91F5-ED4D-452E-401C-75264750A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0303EDAD-F186-73BD-623E-CCA6C55AF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1AA00-B026-CA5C-9DA4-643CB1A7F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 fontScale="77500" lnSpcReduction="20000"/>
          </a:bodyPr>
          <a:lstStyle/>
          <a:p>
            <a:r>
              <a:rPr lang="en-FR" sz="2400"/>
              <a:t>Logistic Regression</a:t>
            </a:r>
            <a:endParaRPr lang="en-US" sz="2400" dirty="0"/>
          </a:p>
          <a:p>
            <a:pPr lvl="1"/>
            <a:r>
              <a:rPr lang="en-US" dirty="0"/>
              <a:t>Linear baseline. Interpretable calibration reference for the ensemble.</a:t>
            </a:r>
            <a:endParaRPr lang="en-FR" sz="2000"/>
          </a:p>
          <a:p>
            <a:r>
              <a:rPr lang="en-FR" sz="2400"/>
              <a:t>XGBoost</a:t>
            </a:r>
            <a:endParaRPr lang="en-US" sz="2400" dirty="0"/>
          </a:p>
          <a:p>
            <a:pPr lvl="1"/>
            <a:r>
              <a:rPr lang="en-US" dirty="0"/>
              <a:t>Gradient-boosted trees. Strongest nonlinear learner; primary ensemble contributor.</a:t>
            </a:r>
            <a:endParaRPr lang="en-FR" sz="2000"/>
          </a:p>
          <a:p>
            <a:r>
              <a:rPr lang="en-FR" sz="2400"/>
              <a:t>K-Nearest Neighbors</a:t>
            </a:r>
            <a:endParaRPr lang="en-US" sz="2400" dirty="0"/>
          </a:p>
          <a:p>
            <a:pPr lvl="1"/>
            <a:r>
              <a:rPr lang="en-US" dirty="0"/>
              <a:t>Distance-based; captures local structure missed by global models. Sensitive to dimensionality.</a:t>
            </a:r>
            <a:endParaRPr lang="en-FR" sz="2000"/>
          </a:p>
          <a:p>
            <a:r>
              <a:rPr lang="en-FR" sz="2400"/>
              <a:t>Support Vector Machine</a:t>
            </a:r>
          </a:p>
          <a:p>
            <a:pPr lvl="1"/>
            <a:r>
              <a:rPr lang="en-US" dirty="0"/>
              <a:t>Margin-based classifier. Effective in medium-dimensional spaces; sensitive to scaling.</a:t>
            </a:r>
            <a:endParaRPr lang="en-FR" sz="2000"/>
          </a:p>
          <a:p>
            <a:r>
              <a:rPr lang="en-FR" sz="2400"/>
              <a:t>Gaussian Naive Bayes</a:t>
            </a:r>
            <a:endParaRPr lang="en-US" sz="2400" dirty="0"/>
          </a:p>
          <a:p>
            <a:pPr lvl="1"/>
            <a:r>
              <a:rPr lang="en-US" dirty="0"/>
              <a:t>Probabilistic baseline assuming feature independence. Fast and stable but limited on complex interactions.</a:t>
            </a:r>
          </a:p>
        </p:txBody>
      </p:sp>
    </p:spTree>
    <p:extLst>
      <p:ext uri="{BB962C8B-B14F-4D97-AF65-F5344CB8AC3E}">
        <p14:creationId xmlns:p14="http://schemas.microsoft.com/office/powerpoint/2010/main" val="32606919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E18F6E8B-15ED-43C7-94BA-91549A651C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6B4B504-8FFD-A827-E266-CD0EF3DA24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810" y="3023754"/>
            <a:ext cx="4900144" cy="273696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/>
              <a:t>Entropy Diagnostics and Active Learning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032D8612-31EB-44CF-A1D0-14FD4C7054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048031"/>
            <a:ext cx="731521" cy="673460"/>
            <a:chOff x="3940602" y="308034"/>
            <a:chExt cx="2116791" cy="3428999"/>
          </a:xfrm>
          <a:solidFill>
            <a:schemeClr val="accent4"/>
          </a:solidFill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19A4A0F-1B59-4DB0-9764-D10936E98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940602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15626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490650" y="308034"/>
              <a:ext cx="566743" cy="34289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B81933D1-5615-42C7-9C0B-4EB7105CCE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089A89A-1E9C-4761-9DFF-53C275FBF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0" y="257770"/>
            <a:ext cx="4837176" cy="297996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50E23A-BA19-BF2C-705E-6A9A2D6EE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2993" y="471748"/>
            <a:ext cx="4307186" cy="2552007"/>
          </a:xfrm>
          <a:prstGeom prst="rect">
            <a:avLst/>
          </a:prstGeom>
        </p:spPr>
      </p:pic>
      <p:sp>
        <p:nvSpPr>
          <p:cNvPr id="38" name="Rectangle 37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0" y="3462252"/>
            <a:ext cx="4837176" cy="297996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0F00D0-B252-A866-337F-341C8DD20A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993" y="3676230"/>
            <a:ext cx="4307186" cy="2552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990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01CC55D-ED54-4C5C-95E6-10947BD1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459ACC-28A5-3733-5BAC-BC78557DE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4560584" cy="1128068"/>
          </a:xfrm>
        </p:spPr>
        <p:txBody>
          <a:bodyPr anchor="ctr">
            <a:normAutofit/>
          </a:bodyPr>
          <a:lstStyle/>
          <a:p>
            <a:r>
              <a:rPr lang="en-US" sz="3700"/>
              <a:t>The recommendation system</a:t>
            </a:r>
            <a:endParaRPr lang="en-FR" sz="370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090569"/>
            <a:ext cx="429768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1CC8BFED-C2AA-9C3E-FE79-72DA40444E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4559425" cy="3979585"/>
          </a:xfrm>
        </p:spPr>
        <p:txBody>
          <a:bodyPr anchor="ctr">
            <a:normAutofit/>
          </a:bodyPr>
          <a:lstStyle/>
          <a:p>
            <a:endParaRPr lang="en-US" sz="20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85810" y="513853"/>
            <a:ext cx="6009366" cy="58345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400C289-9228-D74D-4825-DAE8D1CB7D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" b="10091"/>
          <a:stretch>
            <a:fillRect/>
          </a:stretch>
        </p:blipFill>
        <p:spPr>
          <a:xfrm>
            <a:off x="5977788" y="799352"/>
            <a:ext cx="5425410" cy="5259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12989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329</Words>
  <Application>Microsoft Macintosh PowerPoint</Application>
  <PresentationFormat>Widescreen</PresentationFormat>
  <Paragraphs>55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Recommending Products to clients</vt:lpstr>
      <vt:lpstr>Data Preprocessing</vt:lpstr>
      <vt:lpstr>Data Exploration</vt:lpstr>
      <vt:lpstr>Feature Engineering and Exploratory Data Analysis (aka the result)</vt:lpstr>
      <vt:lpstr>Exploratory Data Analysis: Feature distributions and pairwise correlations after engineering.</vt:lpstr>
      <vt:lpstr>Supervised EDA</vt:lpstr>
      <vt:lpstr>FAMD and GMM</vt:lpstr>
      <vt:lpstr>The Reccomendation Engine</vt:lpstr>
      <vt:lpstr>Data setup</vt:lpstr>
      <vt:lpstr>Model Evaluation Strategy (Metrics)</vt:lpstr>
      <vt:lpstr>Modelling</vt:lpstr>
      <vt:lpstr>Entropy Diagnostics and Active Learning</vt:lpstr>
      <vt:lpstr>The recommendation system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 Monti</dc:creator>
  <cp:lastModifiedBy>Luca Monti</cp:lastModifiedBy>
  <cp:revision>8</cp:revision>
  <dcterms:created xsi:type="dcterms:W3CDTF">2026-04-20T13:06:57Z</dcterms:created>
  <dcterms:modified xsi:type="dcterms:W3CDTF">2026-04-20T18:00:39Z</dcterms:modified>
</cp:coreProperties>
</file>